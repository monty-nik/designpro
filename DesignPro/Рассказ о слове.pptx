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без заголовка" id="{58C81236-A563-45AA-A124-D851F2083F53}">
          <p14:sldIdLst/>
        </p14:section>
        <p14:section name="Раздел без заголовка" id="{E7A940FC-7E12-4289-BEC4-C047E054BAA3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ихаил" initials="М" lastIdx="3" clrIdx="0">
    <p:extLst>
      <p:ext uri="{19B8F6BF-5375-455C-9EA6-DF929625EA0E}">
        <p15:presenceInfo xmlns:p15="http://schemas.microsoft.com/office/powerpoint/2012/main" userId="Михаил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18B754-EE7E-4A7B-9550-8738861D2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1D4D669-A912-4DCD-B331-97D09335D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B85D4B-2184-4AE3-8FEA-C62B4CDE4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F197-AF01-45B5-903B-4F026E1B30BE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0FF663-B040-4402-9FEA-F28FA2789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213A96-A3DC-4ADC-8918-1D3653CE5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6AE9-45A8-467B-8663-C02F925BC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273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53C7B-C1C2-4C1C-9C9E-9EF1F83AB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286A10-E846-4334-A828-0528AEEC0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102AF8-D792-4C91-AEBB-465C30B59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F197-AF01-45B5-903B-4F026E1B30BE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88A516-2DFC-45FC-B53F-D5F5BAA80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DD8352-31E0-4FF5-8840-DB1A6B71C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6AE9-45A8-467B-8663-C02F925BC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2730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B7637-313D-4F68-9E9D-BD09B3192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529AF2-4605-4EFC-8D8B-80AF583AF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B20EA4-182C-40CD-9B8D-A0EF03B76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F197-AF01-45B5-903B-4F026E1B30BE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4CBAD7-068F-4ED9-A712-A24600CBA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CBADA5-FCBC-4EC6-9D49-72405580E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6AE9-45A8-467B-8663-C02F925BC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618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E2BC05-8870-4D92-A92A-7FC1AF364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0B3812-FF21-407A-8402-57EE25A758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B1A44A9-2A77-4AA9-BA13-9273E1BE4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3C4BC9-62D4-4254-98B3-40774F046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F197-AF01-45B5-903B-4F026E1B30BE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89D06A2-D00D-4438-88ED-CA07C5EA3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DBB819-450D-4F90-87AC-EF4907108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6AE9-45A8-467B-8663-C02F925BC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2725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3CE99-D9F4-489E-BA0C-CC5B4A825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4ABE83-ABD8-4412-997E-06C3D5BE3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B7BACD-B94D-4195-8C42-74F27718C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41B02AF-59C3-4DE9-A2F9-0B588AF6D4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8BC9546-BE9D-4DDD-8F40-DE2B4CEA1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5D4F5DC-D193-4255-BCD4-60DE8FFB7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F197-AF01-45B5-903B-4F026E1B30BE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17383B7-FBF3-45C3-8FAE-03166184C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AFC795C-73AF-4A6B-9355-D74D016F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6AE9-45A8-467B-8663-C02F925BC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6826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3C8C24-336D-4EF8-814B-460DF5F94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C101EA-AF43-446A-BD79-2DD05632A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F197-AF01-45B5-903B-4F026E1B30BE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06B5E7-5959-4EC7-9749-5132588CE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15633E5-60DB-4D90-9994-1418FA3B4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6AE9-45A8-467B-8663-C02F925BC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197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BCCEF8F-AB00-42F5-8009-D49FECFB4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F197-AF01-45B5-903B-4F026E1B30BE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82D3244-DF35-473A-9072-A06D2C015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FCEA31-3421-432C-B6F9-D9D524176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6AE9-45A8-467B-8663-C02F925BC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1379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0C7CB4-E73D-4CFF-A0A5-539DC7725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F71291-9AE9-4517-9273-17587DCD6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5C25512-2B9F-45F4-9DC2-D93F481E2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DA924B-2ACF-4AE7-8186-4755229B9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F197-AF01-45B5-903B-4F026E1B30BE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CDFB11-7658-4686-BA57-79DC018DD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8D6BAB-51AD-480E-B479-C645502BB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6AE9-45A8-467B-8663-C02F925BC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8473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2B13BD-43F9-47C6-AC2E-148DF4059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2A0FBB7-3520-486F-9932-3624EA246F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3015B86-82FD-4167-89CA-430F0CAED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359891-C7AB-4090-BFC3-AAEBA54B2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F197-AF01-45B5-903B-4F026E1B30BE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0A6C017-2DF1-43A0-B804-F1E231F4A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56D0A1-74D7-4E53-AA37-7F289F62D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6AE9-45A8-467B-8663-C02F925BC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493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814B7D-4FCC-4A25-95D4-96C244683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BD03AAC-FCBA-4C3D-8545-A83F65E37D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ACF7DA-755F-40D8-B680-B1C526F0E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F197-AF01-45B5-903B-4F026E1B30BE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F1612D-F616-434C-B584-37D4FF206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89120C-07CF-400F-A10E-205D10BC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6AE9-45A8-467B-8663-C02F925BC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8873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200BC0B-5044-42AE-9E99-48C72F579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5478BB-A693-431D-AA01-0719E1B74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566428-D05C-4C8F-95DA-BC85E9720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F197-AF01-45B5-903B-4F026E1B30BE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CC927B-BA4D-4524-9946-C665B5B26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3CA813-DA74-4D3E-BAFD-3AEBE6488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6AE9-45A8-467B-8663-C02F925BC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6212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2A8AA0-E48C-4558-8B0E-C78A891F6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1127E3-4930-4BAB-8B1E-6E842A949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C510AD-DFC1-48B3-A0FB-64A00B9837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7BF197-AF01-45B5-903B-4F026E1B30BE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17BE91-9E5B-47BD-8C24-D00F1DCAE4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8917AB-CCC5-4917-AFA2-466FA3DB7E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06AE9-45A8-467B-8663-C02F925BC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5949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E94E6B-9DFF-46C4-BC3D-08C2B7EFC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75492"/>
            <a:ext cx="9144000" cy="895926"/>
          </a:xfrm>
        </p:spPr>
        <p:txBody>
          <a:bodyPr>
            <a:normAutofit fontScale="90000"/>
          </a:bodyPr>
          <a:lstStyle/>
          <a:p>
            <a:r>
              <a:rPr lang="ru-RU" dirty="0"/>
              <a:t>Рассказ о слове 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0C775D7C-03A1-44EB-86F0-BBD6D27107A7}"/>
              </a:ext>
            </a:extLst>
          </p:cNvPr>
          <p:cNvCxnSpPr>
            <a:cxnSpLocks/>
          </p:cNvCxnSpPr>
          <p:nvPr/>
        </p:nvCxnSpPr>
        <p:spPr>
          <a:xfrm>
            <a:off x="4184072" y="372225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F119CEDF-71A1-4703-95F2-F5A845D5499D}"/>
              </a:ext>
            </a:extLst>
          </p:cNvPr>
          <p:cNvCxnSpPr/>
          <p:nvPr/>
        </p:nvCxnSpPr>
        <p:spPr>
          <a:xfrm>
            <a:off x="2135906" y="2876956"/>
            <a:ext cx="0" cy="108989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CB2EF758-D901-4E31-A44B-BEC9673A9D09}"/>
              </a:ext>
            </a:extLst>
          </p:cNvPr>
          <p:cNvCxnSpPr/>
          <p:nvPr/>
        </p:nvCxnSpPr>
        <p:spPr>
          <a:xfrm>
            <a:off x="2135906" y="3962385"/>
            <a:ext cx="858981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C09B0CD0-B433-4EED-A29B-DD14066557B9}"/>
              </a:ext>
            </a:extLst>
          </p:cNvPr>
          <p:cNvCxnSpPr/>
          <p:nvPr/>
        </p:nvCxnSpPr>
        <p:spPr>
          <a:xfrm>
            <a:off x="2135906" y="2876956"/>
            <a:ext cx="766618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B652EDD4-FF4C-4532-800A-F8733595E7CE}"/>
              </a:ext>
            </a:extLst>
          </p:cNvPr>
          <p:cNvCxnSpPr/>
          <p:nvPr/>
        </p:nvCxnSpPr>
        <p:spPr>
          <a:xfrm flipH="1">
            <a:off x="3410524" y="2876956"/>
            <a:ext cx="230909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3347F2BB-E132-4837-A5B8-92773F36AD65}"/>
              </a:ext>
            </a:extLst>
          </p:cNvPr>
          <p:cNvCxnSpPr/>
          <p:nvPr/>
        </p:nvCxnSpPr>
        <p:spPr>
          <a:xfrm>
            <a:off x="2902524" y="2876956"/>
            <a:ext cx="508000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BD57572C-647D-4F6C-BAC9-DA685BD4D1E5}"/>
              </a:ext>
            </a:extLst>
          </p:cNvPr>
          <p:cNvCxnSpPr>
            <a:cxnSpLocks/>
          </p:cNvCxnSpPr>
          <p:nvPr/>
        </p:nvCxnSpPr>
        <p:spPr>
          <a:xfrm>
            <a:off x="2994887" y="3962385"/>
            <a:ext cx="669637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E343CDE3-3239-4FF0-9A0D-0B684ACD291B}"/>
              </a:ext>
            </a:extLst>
          </p:cNvPr>
          <p:cNvCxnSpPr>
            <a:cxnSpLocks/>
          </p:cNvCxnSpPr>
          <p:nvPr/>
        </p:nvCxnSpPr>
        <p:spPr>
          <a:xfrm flipV="1">
            <a:off x="848599" y="3565359"/>
            <a:ext cx="641926" cy="18458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6803C75-FCC2-4B8F-A6A9-AB2DAE129D64}"/>
              </a:ext>
            </a:extLst>
          </p:cNvPr>
          <p:cNvSpPr txBox="1"/>
          <p:nvPr/>
        </p:nvSpPr>
        <p:spPr>
          <a:xfrm>
            <a:off x="848599" y="3242025"/>
            <a:ext cx="641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333333"/>
                </a:solidFill>
                <a:latin typeface="YS Text"/>
              </a:rPr>
              <a:t>Снег</a:t>
            </a:r>
            <a:endParaRPr lang="ru-RU" dirty="0"/>
          </a:p>
        </p:txBody>
      </p: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49F043AC-06EE-467E-A593-5D1F4D24CAD5}"/>
              </a:ext>
            </a:extLst>
          </p:cNvPr>
          <p:cNvCxnSpPr>
            <a:cxnSpLocks/>
          </p:cNvCxnSpPr>
          <p:nvPr/>
        </p:nvCxnSpPr>
        <p:spPr>
          <a:xfrm flipH="1" flipV="1">
            <a:off x="1526307" y="3421901"/>
            <a:ext cx="609599" cy="230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7359700-B39E-43A1-9EBD-ED5E908EBB61}"/>
              </a:ext>
            </a:extLst>
          </p:cNvPr>
          <p:cNvSpPr txBox="1"/>
          <p:nvPr/>
        </p:nvSpPr>
        <p:spPr>
          <a:xfrm>
            <a:off x="2094338" y="2493957"/>
            <a:ext cx="1616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333333"/>
                </a:solidFill>
                <a:latin typeface="YS Text"/>
              </a:rPr>
              <a:t>произносим</a:t>
            </a:r>
            <a:endParaRPr lang="ru-RU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9DC3DA8-F994-4A09-A37F-D4950E84A047}"/>
              </a:ext>
            </a:extLst>
          </p:cNvPr>
          <p:cNvSpPr txBox="1"/>
          <p:nvPr/>
        </p:nvSpPr>
        <p:spPr>
          <a:xfrm>
            <a:off x="3682996" y="2697360"/>
            <a:ext cx="7666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сне</a:t>
            </a:r>
            <a:r>
              <a:rPr lang="en-US" dirty="0"/>
              <a:t>[</a:t>
            </a:r>
            <a:r>
              <a:rPr lang="ru-RU" dirty="0"/>
              <a:t>к</a:t>
            </a:r>
            <a:r>
              <a:rPr lang="en-US" dirty="0"/>
              <a:t>]</a:t>
            </a:r>
            <a:endParaRPr lang="ru-RU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4303BE-1A04-4816-81F8-155717664A87}"/>
              </a:ext>
            </a:extLst>
          </p:cNvPr>
          <p:cNvSpPr txBox="1"/>
          <p:nvPr/>
        </p:nvSpPr>
        <p:spPr>
          <a:xfrm>
            <a:off x="1990429" y="3584976"/>
            <a:ext cx="143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записываем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558471-8EFE-4D4C-B4F6-80895654ECE3}"/>
              </a:ext>
            </a:extLst>
          </p:cNvPr>
          <p:cNvSpPr txBox="1"/>
          <p:nvPr/>
        </p:nvSpPr>
        <p:spPr>
          <a:xfrm>
            <a:off x="3636801" y="3753618"/>
            <a:ext cx="669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снег</a:t>
            </a:r>
          </a:p>
        </p:txBody>
      </p:sp>
      <p:cxnSp>
        <p:nvCxnSpPr>
          <p:cNvPr id="60" name="Прямая соединительная линия 59">
            <a:extLst>
              <a:ext uri="{FF2B5EF4-FFF2-40B4-BE49-F238E27FC236}">
                <a16:creationId xmlns:a16="http://schemas.microsoft.com/office/drawing/2014/main" id="{889D5B9B-C635-47E9-996C-555C48C6C3C5}"/>
              </a:ext>
            </a:extLst>
          </p:cNvPr>
          <p:cNvCxnSpPr>
            <a:cxnSpLocks/>
          </p:cNvCxnSpPr>
          <p:nvPr/>
        </p:nvCxnSpPr>
        <p:spPr>
          <a:xfrm>
            <a:off x="865916" y="3260498"/>
            <a:ext cx="0" cy="323334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11928722-3A51-443E-9876-12CA288541A3}"/>
              </a:ext>
            </a:extLst>
          </p:cNvPr>
          <p:cNvCxnSpPr>
            <a:cxnSpLocks/>
          </p:cNvCxnSpPr>
          <p:nvPr/>
        </p:nvCxnSpPr>
        <p:spPr>
          <a:xfrm>
            <a:off x="867068" y="3232850"/>
            <a:ext cx="623457" cy="917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1638B42F-F3E8-41F4-9249-45EC29CB9803}"/>
              </a:ext>
            </a:extLst>
          </p:cNvPr>
          <p:cNvCxnSpPr>
            <a:cxnSpLocks/>
          </p:cNvCxnSpPr>
          <p:nvPr/>
        </p:nvCxnSpPr>
        <p:spPr>
          <a:xfrm>
            <a:off x="1490525" y="3242010"/>
            <a:ext cx="17317" cy="31858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49650D7F-815B-414D-8FDB-90AD405D4702}"/>
              </a:ext>
            </a:extLst>
          </p:cNvPr>
          <p:cNvSpPr txBox="1"/>
          <p:nvPr/>
        </p:nvSpPr>
        <p:spPr>
          <a:xfrm>
            <a:off x="0" y="5191022"/>
            <a:ext cx="6640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333333"/>
                </a:solidFill>
                <a:latin typeface="YS Text"/>
              </a:rPr>
              <a:t>1 Лексическое значение слова</a:t>
            </a:r>
            <a:endParaRPr lang="ru-RU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452F783-6FE4-46F4-84CB-D2100F67B302}"/>
              </a:ext>
            </a:extLst>
          </p:cNvPr>
          <p:cNvSpPr txBox="1"/>
          <p:nvPr/>
        </p:nvSpPr>
        <p:spPr>
          <a:xfrm>
            <a:off x="66961" y="5600949"/>
            <a:ext cx="7266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1 замерзшие капли воды, созданные с помощью ветра и холода», </a:t>
            </a:r>
            <a:endParaRPr lang="ru-RU" b="1" dirty="0">
              <a:solidFill>
                <a:srgbClr val="333333"/>
              </a:solidFill>
              <a:latin typeface="YS Text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EA47586-EFED-4C19-92A6-199FEDC65A36}"/>
              </a:ext>
            </a:extLst>
          </p:cNvPr>
          <p:cNvSpPr txBox="1"/>
          <p:nvPr/>
        </p:nvSpPr>
        <p:spPr>
          <a:xfrm>
            <a:off x="66961" y="5911078"/>
            <a:ext cx="80379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333333"/>
                </a:solidFill>
                <a:latin typeface="YS Text"/>
              </a:rPr>
              <a:t>2 </a:t>
            </a:r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сплошная масса таких осадков, покрывающая какое-либо пространство</a:t>
            </a: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1AB9C75-6378-4F12-AF32-DFEB69660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9525" y="1408901"/>
            <a:ext cx="4849099" cy="3703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011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4D52C1-B890-495B-995C-DF6888E19521}"/>
              </a:ext>
            </a:extLst>
          </p:cNvPr>
          <p:cNvSpPr txBox="1"/>
          <p:nvPr/>
        </p:nvSpPr>
        <p:spPr>
          <a:xfrm>
            <a:off x="92364" y="8174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 err="1">
                <a:solidFill>
                  <a:srgbClr val="333333"/>
                </a:solidFill>
                <a:effectLst/>
                <a:latin typeface="YS Text"/>
              </a:rPr>
              <a:t>снежный,снегоуборка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, снежище, снежинка, снегурка, снеговик</a:t>
            </a:r>
            <a:r>
              <a:rPr lang="en-US" b="0" i="0" dirty="0">
                <a:solidFill>
                  <a:srgbClr val="333333"/>
                </a:solidFill>
                <a:effectLst/>
                <a:latin typeface="YS Text"/>
              </a:rPr>
              <a:t>.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668481-6CB4-4DCA-9DAE-DB6BA5D7AF91}"/>
              </a:ext>
            </a:extLst>
          </p:cNvPr>
          <p:cNvSpPr txBox="1"/>
          <p:nvPr/>
        </p:nvSpPr>
        <p:spPr>
          <a:xfrm>
            <a:off x="267854" y="346424"/>
            <a:ext cx="4996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2 Однокоренные слова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D9A540-5888-4D1C-A800-C1D582884B8A}"/>
              </a:ext>
            </a:extLst>
          </p:cNvPr>
          <p:cNvSpPr txBox="1"/>
          <p:nvPr/>
        </p:nvSpPr>
        <p:spPr>
          <a:xfrm>
            <a:off x="0" y="1584551"/>
            <a:ext cx="22479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333333"/>
                </a:solidFill>
                <a:latin typeface="YS Text"/>
              </a:rPr>
              <a:t>3 Синонимы Антонимы  Фразеологизм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84C512-02D2-47CF-BBCE-C2361904B8A5}"/>
              </a:ext>
            </a:extLst>
          </p:cNvPr>
          <p:cNvSpPr txBox="1"/>
          <p:nvPr/>
        </p:nvSpPr>
        <p:spPr>
          <a:xfrm>
            <a:off x="1433297" y="1584551"/>
            <a:ext cx="45293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dirty="0">
                <a:solidFill>
                  <a:srgbClr val="333333"/>
                </a:solidFill>
                <a:latin typeface="YS Text"/>
              </a:rPr>
              <a:t>снег с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негопад кристалл снега ледяная крупа</a:t>
            </a:r>
          </a:p>
          <a:p>
            <a:pPr algn="l"/>
            <a:endParaRPr lang="ru-RU" b="0" i="0" dirty="0">
              <a:solidFill>
                <a:srgbClr val="333333"/>
              </a:solidFill>
              <a:effectLst/>
              <a:latin typeface="YS Tex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8A45F0-6C32-43C4-8F39-FE70121DBFDE}"/>
              </a:ext>
            </a:extLst>
          </p:cNvPr>
          <p:cNvSpPr txBox="1"/>
          <p:nvPr/>
        </p:nvSpPr>
        <p:spPr>
          <a:xfrm>
            <a:off x="1297781" y="1861550"/>
            <a:ext cx="611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дождь, град, лужа, слякоть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08D90C-9184-4BA3-8951-75A22C26E081}"/>
              </a:ext>
            </a:extLst>
          </p:cNvPr>
          <p:cNvSpPr txBox="1"/>
          <p:nvPr/>
        </p:nvSpPr>
        <p:spPr>
          <a:xfrm>
            <a:off x="1774030" y="2230882"/>
            <a:ext cx="9179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Как снег на голову»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 — неожиданно, внезапно.</a:t>
            </a:r>
            <a:br>
              <a:rPr lang="ru-RU" dirty="0"/>
            </a:b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Пример: Гости нагрянули как снег на голову.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1A502C-1B4A-4B8B-9F9F-B0B18BAA029E}"/>
              </a:ext>
            </a:extLst>
          </p:cNvPr>
          <p:cNvSpPr txBox="1"/>
          <p:nvPr/>
        </p:nvSpPr>
        <p:spPr>
          <a:xfrm>
            <a:off x="-23812" y="3246545"/>
            <a:ext cx="611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4 Сочетаемость слово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CA2262-A725-42C9-BFC9-12F0352ADFAC}"/>
              </a:ext>
            </a:extLst>
          </p:cNvPr>
          <p:cNvSpPr txBox="1"/>
          <p:nvPr/>
        </p:nvSpPr>
        <p:spPr>
          <a:xfrm>
            <a:off x="2247900" y="3292711"/>
            <a:ext cx="35814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Белый ,пушистый , первый ,прошлогодний , чистый ,пахучий ,</a:t>
            </a:r>
            <a:r>
              <a:rPr lang="en-US" b="0" i="0" dirty="0">
                <a:solidFill>
                  <a:srgbClr val="333333"/>
                </a:solidFill>
                <a:effectLst/>
                <a:latin typeface="YS Text"/>
              </a:rPr>
              <a:t>[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снег</a:t>
            </a:r>
            <a:r>
              <a:rPr lang="en-US" b="0" i="0" dirty="0">
                <a:solidFill>
                  <a:srgbClr val="333333"/>
                </a:solidFill>
                <a:effectLst/>
                <a:latin typeface="YS Text"/>
              </a:rPr>
              <a:t>]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9B8235-B5FF-4DF5-B0AB-02B27F212DEB}"/>
              </a:ext>
            </a:extLst>
          </p:cNvPr>
          <p:cNvSpPr txBox="1"/>
          <p:nvPr/>
        </p:nvSpPr>
        <p:spPr>
          <a:xfrm>
            <a:off x="92364" y="4530209"/>
            <a:ext cx="14602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YS Text"/>
              </a:rPr>
              <a:t>5</a:t>
            </a:r>
            <a:r>
              <a:rPr lang="ru-RU" dirty="0">
                <a:solidFill>
                  <a:srgbClr val="333333"/>
                </a:solidFill>
                <a:latin typeface="YS Text"/>
              </a:rPr>
              <a:t> Пословица Загадка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3F0079-C1CD-48D5-922E-524DCAD89F1A}"/>
              </a:ext>
            </a:extLst>
          </p:cNvPr>
          <p:cNvSpPr txBox="1"/>
          <p:nvPr/>
        </p:nvSpPr>
        <p:spPr>
          <a:xfrm>
            <a:off x="1433297" y="4530209"/>
            <a:ext cx="613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Снег глубок — год хорош</a:t>
            </a:r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78BF7A-CE32-4516-8817-DA427D1F6DA0}"/>
              </a:ext>
            </a:extLst>
          </p:cNvPr>
          <p:cNvSpPr txBox="1"/>
          <p:nvPr/>
        </p:nvSpPr>
        <p:spPr>
          <a:xfrm>
            <a:off x="1123950" y="4853374"/>
            <a:ext cx="22909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Бел, да не сахар.</a:t>
            </a:r>
            <a:br>
              <a:rPr lang="ru-RU" dirty="0"/>
            </a:b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На всех садится,</a:t>
            </a:r>
            <a:br>
              <a:rPr lang="ru-RU" dirty="0"/>
            </a:b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Никого не боится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EB9B90-8EC0-4101-9FD2-28CEC31335CE}"/>
              </a:ext>
            </a:extLst>
          </p:cNvPr>
          <p:cNvSpPr txBox="1"/>
          <p:nvPr/>
        </p:nvSpPr>
        <p:spPr>
          <a:xfrm>
            <a:off x="229790" y="5842448"/>
            <a:ext cx="613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333333"/>
                </a:solidFill>
                <a:latin typeface="YS Text"/>
              </a:rPr>
              <a:t>6 Предложения с этим словам</a:t>
            </a:r>
            <a:endParaRPr lang="ru-R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2EEF68-09D3-4071-AF28-C98E304D04B1}"/>
              </a:ext>
            </a:extLst>
          </p:cNvPr>
          <p:cNvSpPr txBox="1"/>
          <p:nvPr/>
        </p:nvSpPr>
        <p:spPr>
          <a:xfrm>
            <a:off x="347880" y="6240176"/>
            <a:ext cx="6134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Пушистый снег тихо падал на город, укутывая его белым одеялом</a:t>
            </a:r>
            <a:endParaRPr lang="ru-RU" dirty="0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BC8A696-3CD0-493F-9F4E-AAA2BF432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4813" y="3160060"/>
            <a:ext cx="3954823" cy="3697940"/>
          </a:xfrm>
          <a:prstGeom prst="rect">
            <a:avLst/>
          </a:prstGeom>
        </p:spPr>
      </p:pic>
      <p:pic>
        <p:nvPicPr>
          <p:cNvPr id="1026" name="Picture 2" descr="Зимы хрустальная снежинка&quot; 2023, Ханты-Мансийск - дата и место проведения, прогр">
            <a:extLst>
              <a:ext uri="{FF2B5EF4-FFF2-40B4-BE49-F238E27FC236}">
                <a16:creationId xmlns:a16="http://schemas.microsoft.com/office/drawing/2014/main" id="{92494FA7-95C0-4C29-8450-5CAAD01EC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326" y="-85458"/>
            <a:ext cx="4435335" cy="3245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97835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145</Words>
  <Application>Microsoft Office PowerPoint</Application>
  <PresentationFormat>Широкоэкранный</PresentationFormat>
  <Paragraphs>22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YS Text</vt:lpstr>
      <vt:lpstr>Тема Office</vt:lpstr>
      <vt:lpstr>Рассказ о слове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Рассказ о слове</dc:title>
  <dc:creator>Михаил</dc:creator>
  <cp:lastModifiedBy>Михаил</cp:lastModifiedBy>
  <cp:revision>10</cp:revision>
  <dcterms:created xsi:type="dcterms:W3CDTF">2025-11-20T03:18:22Z</dcterms:created>
  <dcterms:modified xsi:type="dcterms:W3CDTF">2025-11-20T04:44:47Z</dcterms:modified>
</cp:coreProperties>
</file>